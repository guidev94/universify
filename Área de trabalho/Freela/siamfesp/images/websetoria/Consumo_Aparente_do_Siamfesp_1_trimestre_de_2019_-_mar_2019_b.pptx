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  <p:sldMasterId id="2147483680" r:id="rId2"/>
  </p:sldMasterIdLst>
  <p:notesMasterIdLst>
    <p:notesMasterId r:id="rId14"/>
  </p:notesMasterIdLst>
  <p:sldIdLst>
    <p:sldId id="260" r:id="rId3"/>
    <p:sldId id="259" r:id="rId4"/>
    <p:sldId id="262" r:id="rId5"/>
    <p:sldId id="263" r:id="rId6"/>
    <p:sldId id="264" r:id="rId7"/>
    <p:sldId id="265" r:id="rId8"/>
    <p:sldId id="272" r:id="rId9"/>
    <p:sldId id="273" r:id="rId10"/>
    <p:sldId id="269" r:id="rId11"/>
    <p:sldId id="270" r:id="rId12"/>
    <p:sldId id="274" r:id="rId13"/>
  </p:sldIdLst>
  <p:sldSz cx="24387175" cy="13716000"/>
  <p:notesSz cx="6858000" cy="9144000"/>
  <p:defaultTextStyle>
    <a:defPPr>
      <a:defRPr lang="en-US"/>
    </a:defPPr>
    <a:lvl1pPr marL="0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1088639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7299"/>
    <a:srgbClr val="3DBAAF"/>
    <a:srgbClr val="E56D5C"/>
    <a:srgbClr val="020000"/>
    <a:srgbClr val="4A4C45"/>
    <a:srgbClr val="008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62" autoAdjust="0"/>
  </p:normalViewPr>
  <p:slideViewPr>
    <p:cSldViewPr snapToGrid="0" snapToObjects="1">
      <p:cViewPr varScale="1">
        <p:scale>
          <a:sx n="56" d="100"/>
          <a:sy n="56" d="100"/>
        </p:scale>
        <p:origin x="552" y="84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IAMFESP_Consumo%20Aparente%20%20PIA%202018%20-%20jan%20a%20mar%20%202019%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SIAMFESP_Consumo%20Aparente%20%20PIA%202018%20-%20jan%20a%20mar%20%202019%20.xlsx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Planilha_do_Microsoft_Excel1.xlsx"/><Relationship Id="rId1" Type="http://schemas.openxmlformats.org/officeDocument/2006/relationships/themeOverride" Target="../theme/themeOverride1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Planilha_do_Microsoft_Excel2.xlsx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'[SIAMFESP_Consumo Aparente  PIA 2018 - dezembro 2018 nova TC _Fa.xlsx]Consumo Aparente (RESUMO PPT)'!$C$24:$F$24</c:f>
              <c:strCache>
                <c:ptCount val="1"/>
                <c:pt idx="0">
                  <c:v>Produção PPC US$ 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-0.30525243961595439"/>
                  <c:y val="-6.887223211243775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3549107312281192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'[SIAMFESP_Consumo Aparente  PIA 2018 - dezembro 2018 nova TC _Fa.xlsx]Consumo Aparente (RESUMO PPT)'!$A$26:$A$32</c:f>
              <c:strCache>
                <c:ptCount val="7"/>
                <c:pt idx="0">
                  <c:v>Total Siamfesp</c:v>
                </c:pt>
                <c:pt idx="1">
                  <c:v>Artefatos de Metais</c:v>
                </c:pt>
                <c:pt idx="2">
                  <c:v>Cadeados</c:v>
                </c:pt>
                <c:pt idx="3">
                  <c:v>Esquadrias de Aluminio</c:v>
                </c:pt>
                <c:pt idx="4">
                  <c:v>Fechaduras</c:v>
                </c:pt>
                <c:pt idx="5">
                  <c:v>Metais Sanitários</c:v>
                </c:pt>
                <c:pt idx="6">
                  <c:v>Utilidades Domésticas</c:v>
                </c:pt>
              </c:strCache>
            </c:strRef>
          </c:cat>
          <c:val>
            <c:numRef>
              <c:f>'[SIAMFESP_Consumo Aparente  PIA 2018 - dezembro 2018 nova TC _Fa.xlsx]Consumo Aparente (RESUMO PPT)'!$I$26:$I$32</c:f>
              <c:numCache>
                <c:formatCode>0.0%</c:formatCode>
                <c:ptCount val="7"/>
                <c:pt idx="0">
                  <c:v>1.4345284679821324E-2</c:v>
                </c:pt>
                <c:pt idx="1">
                  <c:v>3.5726624951201158E-2</c:v>
                </c:pt>
                <c:pt idx="2">
                  <c:v>7.4786309546448493E-3</c:v>
                </c:pt>
                <c:pt idx="3">
                  <c:v>-4.2253752842109193E-2</c:v>
                </c:pt>
                <c:pt idx="4">
                  <c:v>7.4786309546448493E-3</c:v>
                </c:pt>
                <c:pt idx="5">
                  <c:v>-2.3057052696562219E-2</c:v>
                </c:pt>
                <c:pt idx="6">
                  <c:v>-2.8030291076237668E-2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53655968"/>
        <c:axId val="253655408"/>
      </c:barChart>
      <c:catAx>
        <c:axId val="253655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53655408"/>
        <c:crosses val="autoZero"/>
        <c:auto val="1"/>
        <c:lblAlgn val="ctr"/>
        <c:lblOffset val="100"/>
        <c:noMultiLvlLbl val="0"/>
      </c:catAx>
      <c:valAx>
        <c:axId val="2536554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53655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 b="1"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'Consumo Aparente (RESUMO PPT)'!$C$24:$F$24</c:f>
              <c:strCache>
                <c:ptCount val="1"/>
                <c:pt idx="0">
                  <c:v>Produção PPC US$ </c:v>
                </c:pt>
              </c:strCache>
            </c:strRef>
          </c:tx>
          <c:spPr>
            <a:solidFill>
              <a:srgbClr val="3DBAAF"/>
            </a:solidFill>
            <a:ln>
              <a:noFill/>
            </a:ln>
            <a:effectLst/>
          </c:spPr>
          <c:invertIfNegative val="0"/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'Consumo Aparente (RESUMO PPT)'!$A$26:$A$32</c:f>
              <c:strCache>
                <c:ptCount val="7"/>
                <c:pt idx="0">
                  <c:v>Total Siamfesp</c:v>
                </c:pt>
                <c:pt idx="1">
                  <c:v>Artefatos de Metais</c:v>
                </c:pt>
                <c:pt idx="2">
                  <c:v>Cadeados</c:v>
                </c:pt>
                <c:pt idx="3">
                  <c:v>Esquadrias de Aluminio</c:v>
                </c:pt>
                <c:pt idx="4">
                  <c:v>Fechaduras</c:v>
                </c:pt>
                <c:pt idx="5">
                  <c:v>Metais Sanitários</c:v>
                </c:pt>
                <c:pt idx="6">
                  <c:v>Utilidades Domésticas</c:v>
                </c:pt>
              </c:strCache>
            </c:strRef>
          </c:cat>
          <c:val>
            <c:numRef>
              <c:f>'Consumo Aparente (RESUMO PPT)'!$K$26:$K$32</c:f>
              <c:numCache>
                <c:formatCode>0.0%</c:formatCode>
                <c:ptCount val="7"/>
                <c:pt idx="0">
                  <c:v>-2.5972532684310101E-2</c:v>
                </c:pt>
                <c:pt idx="1">
                  <c:v>-1.6768809952247388E-2</c:v>
                </c:pt>
                <c:pt idx="2">
                  <c:v>-3.4854893685693167E-2</c:v>
                </c:pt>
                <c:pt idx="3">
                  <c:v>2.6056684705733746E-2</c:v>
                </c:pt>
                <c:pt idx="4">
                  <c:v>-3.4854893685693278E-2</c:v>
                </c:pt>
                <c:pt idx="5">
                  <c:v>-9.5268986957836699E-2</c:v>
                </c:pt>
                <c:pt idx="6">
                  <c:v>-5.4746508908855906E-2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54764032"/>
        <c:axId val="254764592"/>
      </c:barChart>
      <c:catAx>
        <c:axId val="2547640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54764592"/>
        <c:crosses val="autoZero"/>
        <c:auto val="1"/>
        <c:lblAlgn val="ctr"/>
        <c:lblOffset val="100"/>
        <c:noMultiLvlLbl val="0"/>
      </c:catAx>
      <c:valAx>
        <c:axId val="254764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54764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="1"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67644686872242E-2"/>
          <c:y val="3.5772357723577237E-2"/>
          <c:w val="0.84176278244549041"/>
          <c:h val="0.742899430254145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'Consumo Aparente (RESUMO PPT)'!$C$35:$F$35</c:f>
              <c:strCache>
                <c:ptCount val="1"/>
                <c:pt idx="0">
                  <c:v>Consumo Aparente </c:v>
                </c:pt>
              </c:strCache>
            </c:strRef>
          </c:tx>
          <c:spPr>
            <a:solidFill>
              <a:srgbClr val="539B88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rot="0" vert="horz"/>
              <a:lstStyle/>
              <a:p>
                <a:pPr>
                  <a:defRPr sz="16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'Consumo Aparente (RESUMO PPT)'!$M$4:$M$10</c:f>
              <c:strCache>
                <c:ptCount val="7"/>
                <c:pt idx="0">
                  <c:v>Total Siamfesp</c:v>
                </c:pt>
                <c:pt idx="1">
                  <c:v>Artefatos de Metais</c:v>
                </c:pt>
                <c:pt idx="2">
                  <c:v>Cadeados</c:v>
                </c:pt>
                <c:pt idx="3">
                  <c:v>Esquadrias de Aluminio</c:v>
                </c:pt>
                <c:pt idx="4">
                  <c:v>Fechaduras</c:v>
                </c:pt>
                <c:pt idx="5">
                  <c:v>Metais Sanitários</c:v>
                </c:pt>
                <c:pt idx="6">
                  <c:v>Utilidades Domésticas</c:v>
                </c:pt>
              </c:strCache>
            </c:strRef>
          </c:cat>
          <c:val>
            <c:numRef>
              <c:f>'Consumo Aparente (RESUMO PPT)'!$J$37:$J$43</c:f>
              <c:numCache>
                <c:formatCode>_-* #,##0_-;\-* #,##0_-;_-* "-"??_-;_-@_-</c:formatCode>
                <c:ptCount val="7"/>
                <c:pt idx="0">
                  <c:v>1570.8105750123657</c:v>
                </c:pt>
                <c:pt idx="1">
                  <c:v>921.05811044017435</c:v>
                </c:pt>
                <c:pt idx="2">
                  <c:v>24.892072573606132</c:v>
                </c:pt>
                <c:pt idx="3">
                  <c:v>158.6968787441979</c:v>
                </c:pt>
                <c:pt idx="4">
                  <c:v>188.86903588142442</c:v>
                </c:pt>
                <c:pt idx="5">
                  <c:v>208.07424673639477</c:v>
                </c:pt>
                <c:pt idx="6">
                  <c:v>69.220230636567948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254767392"/>
        <c:axId val="254767952"/>
      </c:barChart>
      <c:lineChart>
        <c:grouping val="standard"/>
        <c:varyColors val="0"/>
        <c:ser>
          <c:idx val="1"/>
          <c:order val="1"/>
          <c:tx>
            <c:strRef>
              <c:f>'Consumo Aparente (RESUMO PPT)'!$N$2:$Q$2</c:f>
              <c:strCache>
                <c:ptCount val="1"/>
                <c:pt idx="0">
                  <c:v>Part. % das importações no Consumo aparente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6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dLbls>
            <c:spPr>
              <a:noFill/>
              <a:ln w="25400">
                <a:noFill/>
              </a:ln>
            </c:spPr>
            <c:txPr>
              <a:bodyPr rot="0" vert="horz"/>
              <a:lstStyle/>
              <a:p>
                <a:pPr>
                  <a:defRPr sz="1600">
                    <a:solidFill>
                      <a:schemeClr val="accent5">
                        <a:lumMod val="50000"/>
                      </a:schemeClr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'Consumo Aparente (RESUMO PPT)'!$M$4:$M$10</c:f>
              <c:strCache>
                <c:ptCount val="7"/>
                <c:pt idx="0">
                  <c:v>Total Siamfesp</c:v>
                </c:pt>
                <c:pt idx="1">
                  <c:v>Artefatos de Metais</c:v>
                </c:pt>
                <c:pt idx="2">
                  <c:v>Cadeados</c:v>
                </c:pt>
                <c:pt idx="3">
                  <c:v>Esquadrias de Aluminio</c:v>
                </c:pt>
                <c:pt idx="4">
                  <c:v>Fechaduras</c:v>
                </c:pt>
                <c:pt idx="5">
                  <c:v>Metais Sanitários</c:v>
                </c:pt>
                <c:pt idx="6">
                  <c:v>Utilidades Domésticas</c:v>
                </c:pt>
              </c:strCache>
            </c:strRef>
          </c:cat>
          <c:val>
            <c:numRef>
              <c:f>'Consumo Aparente (RESUMO PPT)'!$U$4:$U$10</c:f>
              <c:numCache>
                <c:formatCode>0.0%</c:formatCode>
                <c:ptCount val="7"/>
                <c:pt idx="0">
                  <c:v>6.8745591427629593E-2</c:v>
                </c:pt>
                <c:pt idx="1">
                  <c:v>1.3440131365961262E-2</c:v>
                </c:pt>
                <c:pt idx="2">
                  <c:v>9.055139917878921E-2</c:v>
                </c:pt>
                <c:pt idx="3">
                  <c:v>1.149197145168602E-3</c:v>
                </c:pt>
                <c:pt idx="4">
                  <c:v>0.15391665375075433</c:v>
                </c:pt>
                <c:pt idx="5">
                  <c:v>0.26236371322377272</c:v>
                </c:pt>
                <c:pt idx="6">
                  <c:v>0.13738110827640401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768512"/>
        <c:axId val="254769072"/>
      </c:lineChart>
      <c:catAx>
        <c:axId val="254767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254767952"/>
        <c:crosses val="autoZero"/>
        <c:auto val="1"/>
        <c:lblAlgn val="ctr"/>
        <c:lblOffset val="100"/>
        <c:noMultiLvlLbl val="0"/>
      </c:catAx>
      <c:valAx>
        <c:axId val="254767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254767392"/>
        <c:crosses val="autoZero"/>
        <c:crossBetween val="between"/>
      </c:valAx>
      <c:catAx>
        <c:axId val="2547685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54769072"/>
        <c:crosses val="autoZero"/>
        <c:auto val="1"/>
        <c:lblAlgn val="ctr"/>
        <c:lblOffset val="100"/>
        <c:noMultiLvlLbl val="0"/>
      </c:catAx>
      <c:valAx>
        <c:axId val="254769072"/>
        <c:scaling>
          <c:orientation val="minMax"/>
        </c:scaling>
        <c:delete val="0"/>
        <c:axPos val="r"/>
        <c:numFmt formatCode="0.0%" sourceLinked="1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254768512"/>
        <c:crosses val="max"/>
        <c:crossBetween val="between"/>
      </c:valAx>
      <c:spPr>
        <a:noFill/>
        <a:ln w="25400">
          <a:noFill/>
        </a:ln>
      </c:spPr>
    </c:plotArea>
    <c:legend>
      <c:legendPos val="b"/>
      <c:layout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pt-BR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400" b="1">
          <a:solidFill>
            <a:schemeClr val="tx1"/>
          </a:solidFill>
        </a:defRPr>
      </a:pPr>
      <a:endParaRPr lang="pt-B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2568837986160822"/>
          <c:y val="0.10866559919003836"/>
          <c:w val="0.80974343929810566"/>
          <c:h val="0.657204334606689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'Consumo Aparente (RESUMO PPT)'!$C$24:$F$24</c:f>
              <c:strCache>
                <c:ptCount val="1"/>
                <c:pt idx="0">
                  <c:v>Produção PPC US$ 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rot="0" vert="horz"/>
              <a:lstStyle/>
              <a:p>
                <a:pPr>
                  <a:defRPr sz="16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'Consumo Aparente (RESUMO PPT)'!$M$4:$M$10</c:f>
              <c:strCache>
                <c:ptCount val="7"/>
                <c:pt idx="0">
                  <c:v>Total Siamfesp</c:v>
                </c:pt>
                <c:pt idx="1">
                  <c:v>Artefatos de Metais</c:v>
                </c:pt>
                <c:pt idx="2">
                  <c:v>Cadeados</c:v>
                </c:pt>
                <c:pt idx="3">
                  <c:v>Esquadrias de Aluminio</c:v>
                </c:pt>
                <c:pt idx="4">
                  <c:v>Fechaduras</c:v>
                </c:pt>
                <c:pt idx="5">
                  <c:v>Metais Sanitários</c:v>
                </c:pt>
                <c:pt idx="6">
                  <c:v>Utilidades Domésticas</c:v>
                </c:pt>
              </c:strCache>
            </c:strRef>
          </c:cat>
          <c:val>
            <c:numRef>
              <c:f>'Consumo Aparente (RESUMO PPT)'!$J$26:$J$32</c:f>
              <c:numCache>
                <c:formatCode>_-* #,##0_-;\-* #,##0_-;_-* "-"??_-;_-@_-</c:formatCode>
                <c:ptCount val="7"/>
                <c:pt idx="0">
                  <c:v>1519.2813250123656</c:v>
                </c:pt>
                <c:pt idx="1">
                  <c:v>932.1217614401744</c:v>
                </c:pt>
                <c:pt idx="2">
                  <c:v>23.173743573606131</c:v>
                </c:pt>
                <c:pt idx="3">
                  <c:v>158.99373674419789</c:v>
                </c:pt>
                <c:pt idx="4">
                  <c:v>165.30902888142444</c:v>
                </c:pt>
                <c:pt idx="5">
                  <c:v>168.06827873639477</c:v>
                </c:pt>
                <c:pt idx="6">
                  <c:v>71.614775636567941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260617008"/>
        <c:axId val="260617568"/>
      </c:barChart>
      <c:lineChart>
        <c:grouping val="standard"/>
        <c:varyColors val="0"/>
        <c:ser>
          <c:idx val="1"/>
          <c:order val="1"/>
          <c:tx>
            <c:strRef>
              <c:f>'Consumo Aparente (RESUMO PPT)'!$X$2:$AC$2</c:f>
              <c:strCache>
                <c:ptCount val="1"/>
                <c:pt idx="0">
                  <c:v>Part. % das exportações na produção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6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dLbls>
            <c:spPr>
              <a:noFill/>
              <a:ln w="25400">
                <a:noFill/>
              </a:ln>
            </c:spPr>
            <c:txPr>
              <a:bodyPr rot="0" vert="horz"/>
              <a:lstStyle/>
              <a:p>
                <a:pPr>
                  <a:defRPr sz="1600">
                    <a:solidFill>
                      <a:schemeClr val="tx1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'Consumo Aparente (RESUMO PPT)'!$M$4:$M$10</c:f>
              <c:strCache>
                <c:ptCount val="7"/>
                <c:pt idx="0">
                  <c:v>Total Siamfesp</c:v>
                </c:pt>
                <c:pt idx="1">
                  <c:v>Artefatos de Metais</c:v>
                </c:pt>
                <c:pt idx="2">
                  <c:v>Cadeados</c:v>
                </c:pt>
                <c:pt idx="3">
                  <c:v>Esquadrias de Aluminio</c:v>
                </c:pt>
                <c:pt idx="4">
                  <c:v>Fechaduras</c:v>
                </c:pt>
                <c:pt idx="5">
                  <c:v>Metais Sanitários</c:v>
                </c:pt>
                <c:pt idx="6">
                  <c:v>Utilidades Domésticas</c:v>
                </c:pt>
              </c:strCache>
            </c:strRef>
          </c:cat>
          <c:val>
            <c:numRef>
              <c:f>'Consumo Aparente (RESUMO PPT)'!$AE$4:$AE$10</c:f>
              <c:numCache>
                <c:formatCode>0.0%</c:formatCode>
                <c:ptCount val="7"/>
                <c:pt idx="0">
                  <c:v>3.7160367254261147E-2</c:v>
                </c:pt>
                <c:pt idx="1">
                  <c:v>2.5149925653253413E-2</c:v>
                </c:pt>
                <c:pt idx="2">
                  <c:v>2.3115945781419591E-2</c:v>
                </c:pt>
                <c:pt idx="3">
                  <c:v>3.0141564681319967E-3</c:v>
                </c:pt>
                <c:pt idx="4">
                  <c:v>3.3332014816639943E-2</c:v>
                </c:pt>
                <c:pt idx="5">
                  <c:v>8.6781182681569397E-2</c:v>
                </c:pt>
                <c:pt idx="6">
                  <c:v>0.16622403539195799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0618128"/>
        <c:axId val="260618688"/>
      </c:lineChart>
      <c:catAx>
        <c:axId val="260617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260617568"/>
        <c:crosses val="autoZero"/>
        <c:auto val="1"/>
        <c:lblAlgn val="ctr"/>
        <c:lblOffset val="100"/>
        <c:noMultiLvlLbl val="0"/>
      </c:catAx>
      <c:valAx>
        <c:axId val="26061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260617008"/>
        <c:crosses val="autoZero"/>
        <c:crossBetween val="between"/>
      </c:valAx>
      <c:catAx>
        <c:axId val="260618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60618688"/>
        <c:crosses val="autoZero"/>
        <c:auto val="1"/>
        <c:lblAlgn val="ctr"/>
        <c:lblOffset val="100"/>
        <c:noMultiLvlLbl val="0"/>
      </c:catAx>
      <c:valAx>
        <c:axId val="260618688"/>
        <c:scaling>
          <c:orientation val="minMax"/>
        </c:scaling>
        <c:delete val="0"/>
        <c:axPos val="r"/>
        <c:numFmt formatCode="0.0%" sourceLinked="1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260618128"/>
        <c:crosses val="max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22205663189269748"/>
          <c:y val="0.9240218195222013"/>
          <c:w val="0.5529061102831595"/>
          <c:h val="5.3921697690950739E-2"/>
        </c:manualLayout>
      </c:layout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pt-BR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400" b="1">
          <a:solidFill>
            <a:schemeClr val="bg1">
              <a:lumMod val="75000"/>
            </a:schemeClr>
          </a:solidFill>
        </a:defRPr>
      </a:pPr>
      <a:endParaRPr lang="pt-BR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'Consumo Aparente (RESUMO PPT)'!$C$35:$F$35</c:f>
              <c:strCache>
                <c:ptCount val="1"/>
                <c:pt idx="0">
                  <c:v>Consumo Aparente </c:v>
                </c:pt>
              </c:strCache>
            </c:strRef>
          </c:tx>
          <c:spPr>
            <a:solidFill>
              <a:srgbClr val="539B88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rot="0" vert="horz"/>
              <a:lstStyle/>
              <a:p>
                <a:pPr>
                  <a:defRPr sz="16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'Consumo Aparente (RESUMO PPT)'!$A$37:$A$43</c:f>
              <c:strCache>
                <c:ptCount val="7"/>
                <c:pt idx="0">
                  <c:v>Total Siamfesp</c:v>
                </c:pt>
                <c:pt idx="1">
                  <c:v>Artefatos de Metais</c:v>
                </c:pt>
                <c:pt idx="2">
                  <c:v>Cadeados</c:v>
                </c:pt>
                <c:pt idx="3">
                  <c:v>Esquadrias de Aluminio</c:v>
                </c:pt>
                <c:pt idx="4">
                  <c:v>Fechaduras</c:v>
                </c:pt>
                <c:pt idx="5">
                  <c:v>Metais Sanitários</c:v>
                </c:pt>
                <c:pt idx="6">
                  <c:v>Utilidades Domésticas</c:v>
                </c:pt>
              </c:strCache>
            </c:strRef>
          </c:cat>
          <c:val>
            <c:numRef>
              <c:f>'Consumo Aparente (RESUMO PPT)'!$J$37:$J$43</c:f>
              <c:numCache>
                <c:formatCode>_-* #,##0_-;\-* #,##0_-;_-* "-"??_-;_-@_-</c:formatCode>
                <c:ptCount val="7"/>
                <c:pt idx="0">
                  <c:v>1570.8105750123657</c:v>
                </c:pt>
                <c:pt idx="1">
                  <c:v>921.05811044017435</c:v>
                </c:pt>
                <c:pt idx="2">
                  <c:v>24.892072573606132</c:v>
                </c:pt>
                <c:pt idx="3">
                  <c:v>158.6968787441979</c:v>
                </c:pt>
                <c:pt idx="4">
                  <c:v>188.86903588142442</c:v>
                </c:pt>
                <c:pt idx="5">
                  <c:v>208.07424673639477</c:v>
                </c:pt>
                <c:pt idx="6">
                  <c:v>69.220230636567948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5750368"/>
        <c:axId val="335750928"/>
      </c:barChart>
      <c:catAx>
        <c:axId val="335750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1600"/>
            </a:pPr>
            <a:endParaRPr lang="pt-BR"/>
          </a:p>
        </c:txPr>
        <c:crossAx val="335750928"/>
        <c:crosses val="autoZero"/>
        <c:auto val="1"/>
        <c:lblAlgn val="ctr"/>
        <c:lblOffset val="100"/>
        <c:noMultiLvlLbl val="0"/>
      </c:catAx>
      <c:valAx>
        <c:axId val="335750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33575036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chemeClr val="bg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1">
          <a:solidFill>
            <a:schemeClr val="accent4">
              <a:lumMod val="50000"/>
            </a:schemeClr>
          </a:solidFill>
        </a:defRPr>
      </a:pPr>
      <a:endParaRPr lang="pt-BR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AADD9-FD25-40B3-A20A-4BAB6D76F49D}" type="datetimeFigureOut">
              <a:rPr lang="pt-BR" smtClean="0"/>
              <a:pPr/>
              <a:t>09/05/2019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C6785-182B-4945-AE03-63D187948E9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7666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7C962-5165-42C9-B48C-E18756B5A45E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59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METAIS NÃO FERRO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166103" y="8069135"/>
            <a:ext cx="6705356" cy="2763587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80000"/>
              </a:lnSpc>
              <a:buNone/>
              <a:defRPr sz="42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 smtClean="0"/>
              <a:t>Click to edit</a:t>
            </a:r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20824012" y="2521003"/>
            <a:ext cx="2839439" cy="82219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80000"/>
              </a:lnSpc>
              <a:buNone/>
              <a:defRPr sz="2600">
                <a:solidFill>
                  <a:srgbClr val="737299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 smtClean="0"/>
              <a:t>CLICK TO EDIT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0824011" y="3305848"/>
            <a:ext cx="2839439" cy="69127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None/>
              <a:defRPr sz="1900" spc="60">
                <a:solidFill>
                  <a:srgbClr val="737299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 smtClean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8876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COMERCIO EX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166103" y="8069135"/>
            <a:ext cx="6705356" cy="2763587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80000"/>
              </a:lnSpc>
              <a:buNone/>
              <a:defRPr sz="42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 smtClean="0"/>
              <a:t>Click to edit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20824012" y="2521003"/>
            <a:ext cx="2839439" cy="82219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80000"/>
              </a:lnSpc>
              <a:buNone/>
              <a:defRPr sz="2600">
                <a:solidFill>
                  <a:srgbClr val="737299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 smtClean="0"/>
              <a:t>CLICK TO EDIT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0824011" y="3305848"/>
            <a:ext cx="2839439" cy="69127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None/>
              <a:defRPr sz="1900" spc="60">
                <a:solidFill>
                  <a:srgbClr val="737299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 smtClean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5707403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ERTURA - RO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42611" y="5883882"/>
            <a:ext cx="11673503" cy="453794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80000"/>
              </a:lnSpc>
              <a:buNone/>
              <a:defRPr sz="69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 smtClean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88788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O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43275" y="3959321"/>
            <a:ext cx="17984788" cy="735965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3800" spc="10">
                <a:solidFill>
                  <a:srgbClr val="4A4C45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 smtClean="0"/>
              <a:t>Click to edit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773980" y="317905"/>
            <a:ext cx="10459295" cy="1101555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None/>
              <a:defRPr sz="3100" spc="40">
                <a:solidFill>
                  <a:srgbClr val="3DBAAF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 smtClean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85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3418" y="750094"/>
            <a:ext cx="18861956" cy="642938"/>
          </a:xfrm>
          <a:prstGeom prst="rect">
            <a:avLst/>
          </a:prstGeom>
        </p:spPr>
        <p:txBody>
          <a:bodyPr vert="horz" lIns="153089" tIns="76544" rIns="153089" bIns="76544"/>
          <a:lstStyle>
            <a:lvl1pPr>
              <a:buNone/>
              <a:defRPr sz="4000">
                <a:solidFill>
                  <a:srgbClr val="9DBCC3"/>
                </a:solidFill>
                <a:latin typeface="Arial"/>
              </a:defRPr>
            </a:lvl1pPr>
          </a:lstStyle>
          <a:p>
            <a:pPr lvl="0"/>
            <a:r>
              <a:rPr lang="pt-BR" dirty="0" err="1" smtClean="0"/>
              <a:t>Click</a:t>
            </a:r>
            <a:r>
              <a:rPr lang="pt-BR" dirty="0" smtClean="0"/>
              <a:t> to </a:t>
            </a:r>
            <a:r>
              <a:rPr lang="pt-BR" dirty="0" err="1" smtClean="0"/>
              <a:t>edit</a:t>
            </a:r>
            <a:r>
              <a:rPr lang="pt-BR" dirty="0" smtClean="0"/>
              <a:t> </a:t>
            </a:r>
            <a:r>
              <a:rPr lang="pt-BR" dirty="0" err="1" smtClean="0"/>
              <a:t>Master</a:t>
            </a:r>
            <a:r>
              <a:rPr lang="pt-BR" dirty="0" smtClean="0"/>
              <a:t> </a:t>
            </a:r>
            <a:r>
              <a:rPr lang="pt-BR" dirty="0" err="1" smtClean="0"/>
              <a:t>text</a:t>
            </a:r>
            <a:r>
              <a:rPr lang="pt-BR" dirty="0" smtClean="0"/>
              <a:t>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2191035" y="2893219"/>
            <a:ext cx="21005360" cy="9536906"/>
          </a:xfrm>
          <a:prstGeom prst="rect">
            <a:avLst/>
          </a:prstGeom>
        </p:spPr>
        <p:txBody>
          <a:bodyPr vert="horz" lIns="153089" tIns="76544" rIns="153089" bIns="76544"/>
          <a:lstStyle>
            <a:lvl1pPr>
              <a:buNone/>
              <a:defRPr sz="47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defRPr>
            </a:lvl1pPr>
          </a:lstStyle>
          <a:p>
            <a:pPr lvl="0"/>
            <a:r>
              <a:rPr lang="pt-BR" dirty="0" err="1" smtClean="0"/>
              <a:t>Click</a:t>
            </a:r>
            <a:r>
              <a:rPr lang="pt-BR" dirty="0" smtClean="0"/>
              <a:t> to </a:t>
            </a:r>
            <a:r>
              <a:rPr lang="pt-BR" dirty="0" err="1" smtClean="0"/>
              <a:t>edit</a:t>
            </a:r>
            <a:r>
              <a:rPr lang="pt-BR" dirty="0" smtClean="0"/>
              <a:t> </a:t>
            </a:r>
            <a:r>
              <a:rPr lang="pt-BR" dirty="0" err="1" smtClean="0"/>
              <a:t>Master</a:t>
            </a:r>
            <a:r>
              <a:rPr lang="pt-BR" dirty="0" smtClean="0"/>
              <a:t> </a:t>
            </a:r>
            <a:r>
              <a:rPr lang="pt-BR" dirty="0" err="1" smtClean="0"/>
              <a:t>text</a:t>
            </a:r>
            <a:r>
              <a:rPr lang="pt-BR" dirty="0" smtClean="0"/>
              <a:t> styles</a:t>
            </a:r>
          </a:p>
        </p:txBody>
      </p:sp>
    </p:spTree>
    <p:extLst>
      <p:ext uri="{BB962C8B-B14F-4D97-AF65-F5344CB8AC3E}">
        <p14:creationId xmlns:p14="http://schemas.microsoft.com/office/powerpoint/2010/main" val="749394273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442104-Template-PPT-09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" y="0"/>
            <a:ext cx="24374131" cy="13716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1064573" y="1923740"/>
            <a:ext cx="9338379" cy="9562679"/>
          </a:xfrm>
          <a:prstGeom prst="rect">
            <a:avLst/>
          </a:prstGeom>
          <a:solidFill>
            <a:srgbClr val="3DBAA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20395018" y="1923740"/>
            <a:ext cx="3992157" cy="9562679"/>
          </a:xfrm>
          <a:prstGeom prst="rect">
            <a:avLst/>
          </a:prstGeom>
          <a:solidFill>
            <a:srgbClr val="3D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LOGO-18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0609" y="8532995"/>
            <a:ext cx="27178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7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94" r:id="rId2"/>
    <p:sldLayoutId id="2147483695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442104-Template-PPT-05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" y="0"/>
            <a:ext cx="24374131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2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9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166103" y="3864038"/>
            <a:ext cx="6705356" cy="3822571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pt-BR" sz="4800" b="1" dirty="0" smtClean="0"/>
              <a:t>Estimativa do consumo aparente </a:t>
            </a:r>
          </a:p>
          <a:p>
            <a:pPr algn="ctr">
              <a:lnSpc>
                <a:spcPct val="150000"/>
              </a:lnSpc>
            </a:pPr>
            <a:r>
              <a:rPr lang="pt-BR" sz="4800" b="1" dirty="0" smtClean="0"/>
              <a:t>dos produtos do setor de artefatos de metais não ferrosos</a:t>
            </a:r>
            <a:endParaRPr lang="pt-BR"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1073807" y="2192704"/>
            <a:ext cx="2839439" cy="822199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Maio</a:t>
            </a:r>
            <a:r>
              <a:rPr lang="en-US" dirty="0" smtClean="0">
                <a:solidFill>
                  <a:schemeClr val="bg1"/>
                </a:solidFill>
              </a:rPr>
              <a:t> de 2019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0599879" y="3343202"/>
            <a:ext cx="3787296" cy="691278"/>
          </a:xfrm>
        </p:spPr>
        <p:txBody>
          <a:bodyPr/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Referente a Jan-mar 2019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5" name="Imagem 4" descr="Siamf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383" y="4034480"/>
            <a:ext cx="2592288" cy="1224136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874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773980" y="317905"/>
            <a:ext cx="15944677" cy="1101555"/>
          </a:xfrm>
        </p:spPr>
        <p:txBody>
          <a:bodyPr/>
          <a:lstStyle/>
          <a:p>
            <a:r>
              <a:rPr lang="pt-BR" sz="4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Estimativa do valor da produção doméstica </a:t>
            </a:r>
          </a:p>
          <a:p>
            <a:r>
              <a:rPr lang="pt-BR" sz="4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(em milhões de US$)</a:t>
            </a:r>
          </a:p>
          <a:p>
            <a:endParaRPr lang="en-US" dirty="0"/>
          </a:p>
        </p:txBody>
      </p:sp>
      <p:pic>
        <p:nvPicPr>
          <p:cNvPr id="5" name="Imagem 4" descr="Siamf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1819" y="11364617"/>
            <a:ext cx="2592288" cy="1224136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064515"/>
              </p:ext>
            </p:extLst>
          </p:nvPr>
        </p:nvGraphicFramePr>
        <p:xfrm>
          <a:off x="1773980" y="2797473"/>
          <a:ext cx="18636120" cy="869291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82005"/>
                <a:gridCol w="1928370"/>
                <a:gridCol w="1928370"/>
                <a:gridCol w="1921176"/>
                <a:gridCol w="1698118"/>
                <a:gridCol w="1698118"/>
                <a:gridCol w="1698118"/>
                <a:gridCol w="1698118"/>
                <a:gridCol w="1683727"/>
              </a:tblGrid>
              <a:tr h="185258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Categoria</a:t>
                      </a:r>
                      <a:endParaRPr lang="pt-BR" sz="24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Produção PPC US$ </a:t>
                      </a:r>
                      <a:endParaRPr lang="pt-BR" sz="24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95946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</a:rPr>
                        <a:t>2013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2014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2015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2016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2017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2018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jan</a:t>
                      </a:r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mar 18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jan</a:t>
                      </a:r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mar 19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</a:tr>
              <a:tr h="605653"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Total Siamfesp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10.950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 9.203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 7.412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6.373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6.273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6.363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1.560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1.519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12534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Artefatos de Metais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7.056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5.513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4.099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3.779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3.812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3.949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948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932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12534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Cadeados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109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122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103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101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97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97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24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23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12534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Esquadrias de Aluminio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1.040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1.051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868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681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623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597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155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159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12534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Fechaduras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883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923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903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717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689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694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171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165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12534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Metais Sanitários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1.273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1.105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970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784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747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730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186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168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12534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Utilidades Domésticas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590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488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470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311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305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296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76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 dirty="0">
                          <a:effectLst/>
                        </a:rPr>
                        <a:t>                  72 </a:t>
                      </a:r>
                      <a:endParaRPr lang="pt-BR" sz="2400" b="1" i="1" u="none" strike="noStrike" dirty="0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92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Siamfe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3584" y="216168"/>
            <a:ext cx="3873560" cy="1371707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CaixaDeTexto 6"/>
          <p:cNvSpPr txBox="1"/>
          <p:nvPr/>
        </p:nvSpPr>
        <p:spPr>
          <a:xfrm>
            <a:off x="715819" y="13253640"/>
            <a:ext cx="3874888" cy="462360"/>
          </a:xfrm>
          <a:prstGeom prst="rect">
            <a:avLst/>
          </a:prstGeom>
          <a:noFill/>
        </p:spPr>
        <p:txBody>
          <a:bodyPr wrap="none" lIns="153089" tIns="76544" rIns="153089" bIns="76544" rtlCol="0">
            <a:spAutoFit/>
          </a:bodyPr>
          <a:lstStyle/>
          <a:p>
            <a:r>
              <a:rPr lang="pt-BR" sz="2000" dirty="0" smtClean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Fonte :Pia Produto e PIM-PF/ IBGE</a:t>
            </a:r>
            <a:endParaRPr lang="pt-BR" sz="2000" dirty="0">
              <a:solidFill>
                <a:schemeClr val="accent5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494452" y="478541"/>
            <a:ext cx="14988616" cy="14176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3089" tIns="76544" rIns="153089" bIns="76544" numCol="1" anchor="t" anchorCtr="0" compatLnSpc="1">
            <a:prstTxWarp prst="textNoShape">
              <a:avLst/>
            </a:prstTxWarp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Estimativa da taxa de crescimento da produção</a:t>
            </a:r>
            <a:endParaRPr lang="pt-BR" sz="3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311098"/>
              </p:ext>
            </p:extLst>
          </p:nvPr>
        </p:nvGraphicFramePr>
        <p:xfrm>
          <a:off x="1864902" y="11919269"/>
          <a:ext cx="21972730" cy="713741"/>
        </p:xfrm>
        <a:graphic>
          <a:graphicData uri="http://schemas.openxmlformats.org/drawingml/2006/table">
            <a:tbl>
              <a:tblPr/>
              <a:tblGrid>
                <a:gridCol w="21972730"/>
              </a:tblGrid>
              <a:tr h="713741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 dirty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libri"/>
                        </a:rPr>
                        <a:t>*Estimativa da produção dos </a:t>
                      </a:r>
                      <a:r>
                        <a:rPr lang="pt-BR" sz="1500" b="1" i="0" u="none" strike="noStrike" dirty="0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libri"/>
                        </a:rPr>
                        <a:t>segmentos SIAMFESP em reais pela PIA produto</a:t>
                      </a:r>
                      <a:r>
                        <a:rPr lang="pt-BR" sz="1500" b="1" i="0" u="none" strike="noStrike" baseline="0" dirty="0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libri"/>
                        </a:rPr>
                        <a:t> convertidos para US$ PP até 2014 e projetados para 2015 e 2016 </a:t>
                      </a:r>
                      <a:r>
                        <a:rPr lang="pt-BR" sz="1500" b="1" i="0" u="none" strike="noStrike" dirty="0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libri"/>
                        </a:rPr>
                        <a:t>a partir </a:t>
                      </a:r>
                      <a:r>
                        <a:rPr lang="pt-BR" sz="1500" b="1" i="0" u="none" strike="noStrike" dirty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libri"/>
                        </a:rPr>
                        <a:t>da taxa de crescimento da </a:t>
                      </a:r>
                      <a:r>
                        <a:rPr lang="pt-BR" sz="1500" b="1" i="0" u="none" strike="noStrike" dirty="0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libri"/>
                        </a:rPr>
                        <a:t>produção em quantum, acumulada nos períodos</a:t>
                      </a:r>
                      <a:r>
                        <a:rPr lang="pt-BR" sz="1500" b="1" i="0" u="none" strike="noStrike" baseline="0" dirty="0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libri"/>
                        </a:rPr>
                        <a:t> indicados </a:t>
                      </a:r>
                      <a:r>
                        <a:rPr lang="pt-BR" sz="1500" b="1" i="0" u="none" strike="noStrike" dirty="0" smtClean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Calibri"/>
                        </a:rPr>
                        <a:t>( pela PIM-PF IBGE ) </a:t>
                      </a:r>
                      <a:endParaRPr lang="pt-BR" sz="1500" b="1" i="0" u="none" strike="noStrike" baseline="0" dirty="0" smtClean="0">
                        <a:solidFill>
                          <a:schemeClr val="accent5">
                            <a:lumMod val="25000"/>
                          </a:schemeClr>
                        </a:solidFill>
                        <a:latin typeface="Calibri"/>
                      </a:endParaRPr>
                    </a:p>
                  </a:txBody>
                  <a:tcPr marL="17862" marR="17862" marT="1339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Retângulo 10"/>
          <p:cNvSpPr/>
          <p:nvPr/>
        </p:nvSpPr>
        <p:spPr bwMode="auto">
          <a:xfrm>
            <a:off x="976244" y="2661686"/>
            <a:ext cx="10843262" cy="949534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153089" tIns="76544" rIns="153089" bIns="76544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300" b="1" dirty="0" smtClean="0">
                <a:solidFill>
                  <a:schemeClr val="accent5">
                    <a:lumMod val="25000"/>
                  </a:schemeClr>
                </a:solidFill>
                <a:latin typeface="Calibri" pitchFamily="34" charset="0"/>
                <a:ea typeface="ヒラギノ角ゴ ProN W3" pitchFamily="-110" charset="-128"/>
                <a:cs typeface="ヒラギノ角ゴ ProN W3" pitchFamily="-110" charset="-128"/>
              </a:rPr>
              <a:t>Taxa de crescimento da </a:t>
            </a:r>
            <a:r>
              <a:rPr lang="pt-BR" sz="3300" b="1" dirty="0" smtClean="0">
                <a:solidFill>
                  <a:schemeClr val="accent5">
                    <a:lumMod val="25000"/>
                  </a:schemeClr>
                </a:solidFill>
                <a:latin typeface="Calibri" pitchFamily="34" charset="0"/>
                <a:ea typeface="ヒラギノ角ゴ ProN W3" pitchFamily="-110" charset="-128"/>
                <a:cs typeface="ヒラギノ角ゴ ProN W3" pitchFamily="-110" charset="-128"/>
              </a:rPr>
              <a:t>produção</a:t>
            </a:r>
          </a:p>
          <a:p>
            <a:pPr algn="ctr"/>
            <a:r>
              <a:rPr lang="pt-BR" sz="3300" b="1" dirty="0" smtClean="0">
                <a:solidFill>
                  <a:schemeClr val="accent5">
                    <a:lumMod val="25000"/>
                  </a:schemeClr>
                </a:solidFill>
                <a:latin typeface="Calibri" pitchFamily="34" charset="0"/>
                <a:ea typeface="ヒラギノ角ゴ ProN W3" pitchFamily="-110" charset="-128"/>
                <a:cs typeface="ヒラギノ角ゴ ProN W3" pitchFamily="-110" charset="-128"/>
              </a:rPr>
              <a:t> </a:t>
            </a:r>
            <a:r>
              <a:rPr lang="pt-BR" sz="3300" b="1" dirty="0" err="1" smtClean="0">
                <a:solidFill>
                  <a:schemeClr val="accent5">
                    <a:lumMod val="25000"/>
                  </a:schemeClr>
                </a:solidFill>
                <a:latin typeface="Calibri" pitchFamily="34" charset="0"/>
                <a:ea typeface="ヒラギノ角ゴ ProN W3" pitchFamily="-110" charset="-128"/>
                <a:cs typeface="ヒラギノ角ゴ ProN W3" pitchFamily="-110" charset="-128"/>
              </a:rPr>
              <a:t>jan</a:t>
            </a:r>
            <a:r>
              <a:rPr lang="pt-BR" sz="3300" b="1" dirty="0" smtClean="0">
                <a:solidFill>
                  <a:schemeClr val="accent5">
                    <a:lumMod val="25000"/>
                  </a:schemeClr>
                </a:solidFill>
                <a:latin typeface="Calibri" pitchFamily="34" charset="0"/>
                <a:ea typeface="ヒラギノ角ゴ ProN W3" pitchFamily="-110" charset="-128"/>
                <a:cs typeface="ヒラギノ角ゴ ProN W3" pitchFamily="-110" charset="-128"/>
              </a:rPr>
              <a:t> a mar19</a:t>
            </a:r>
            <a:r>
              <a:rPr lang="pt-BR" sz="3300" b="1" dirty="0" smtClean="0">
                <a:solidFill>
                  <a:schemeClr val="accent5">
                    <a:lumMod val="25000"/>
                  </a:schemeClr>
                </a:solidFill>
                <a:latin typeface="Calibri" pitchFamily="34" charset="0"/>
                <a:ea typeface="ヒラギノ角ゴ ProN W3" pitchFamily="-110" charset="-128"/>
                <a:cs typeface="ヒラギノ角ゴ ProN W3" pitchFamily="-110" charset="-128"/>
              </a:rPr>
              <a:t>/ </a:t>
            </a:r>
            <a:r>
              <a:rPr lang="pt-BR" sz="3300" b="1" dirty="0" err="1" smtClean="0">
                <a:solidFill>
                  <a:schemeClr val="accent5">
                    <a:lumMod val="25000"/>
                  </a:schemeClr>
                </a:solidFill>
                <a:latin typeface="Calibri" pitchFamily="34" charset="0"/>
                <a:ea typeface="ヒラギノ角ゴ ProN W3" pitchFamily="-110" charset="-128"/>
                <a:cs typeface="ヒラギノ角ゴ ProN W3" pitchFamily="-110" charset="-128"/>
              </a:rPr>
              <a:t>jan</a:t>
            </a:r>
            <a:r>
              <a:rPr lang="pt-BR" sz="3300" b="1" dirty="0" smtClean="0">
                <a:solidFill>
                  <a:schemeClr val="accent5">
                    <a:lumMod val="25000"/>
                  </a:schemeClr>
                </a:solidFill>
                <a:latin typeface="Calibri" pitchFamily="34" charset="0"/>
                <a:ea typeface="ヒラギノ角ゴ ProN W3" pitchFamily="-110" charset="-128"/>
                <a:cs typeface="ヒラギノ角ゴ ProN W3" pitchFamily="-110" charset="-128"/>
              </a:rPr>
              <a:t> </a:t>
            </a:r>
            <a:r>
              <a:rPr lang="pt-BR" sz="3300" b="1" dirty="0" smtClean="0">
                <a:solidFill>
                  <a:schemeClr val="accent5">
                    <a:lumMod val="25000"/>
                  </a:schemeClr>
                </a:solidFill>
                <a:latin typeface="Calibri" pitchFamily="34" charset="0"/>
                <a:ea typeface="ヒラギノ角ゴ ProN W3" pitchFamily="-110" charset="-128"/>
                <a:cs typeface="ヒラギノ角ゴ ProN W3" pitchFamily="-110" charset="-128"/>
              </a:rPr>
              <a:t>a mar18</a:t>
            </a:r>
            <a:endParaRPr lang="pt-BR" sz="3300" b="1" dirty="0">
              <a:solidFill>
                <a:schemeClr val="accent5">
                  <a:lumMod val="25000"/>
                </a:schemeClr>
              </a:solidFill>
              <a:latin typeface="Calibri" pitchFamily="34" charset="0"/>
              <a:ea typeface="ヒラギノ角ゴ ProN W3" pitchFamily="-110" charset="-128"/>
              <a:cs typeface="ヒラギノ角ゴ ProN W3" pitchFamily="-110" charset="-128"/>
            </a:endParaRPr>
          </a:p>
        </p:txBody>
      </p:sp>
      <p:cxnSp>
        <p:nvCxnSpPr>
          <p:cNvPr id="3" name="Conector reto 2"/>
          <p:cNvCxnSpPr/>
          <p:nvPr/>
        </p:nvCxnSpPr>
        <p:spPr bwMode="auto">
          <a:xfrm>
            <a:off x="12463653" y="2908811"/>
            <a:ext cx="0" cy="8354717"/>
          </a:xfrm>
          <a:prstGeom prst="lin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tângulo 13"/>
          <p:cNvSpPr/>
          <p:nvPr/>
        </p:nvSpPr>
        <p:spPr bwMode="auto">
          <a:xfrm>
            <a:off x="12851267" y="2661686"/>
            <a:ext cx="10843262" cy="9495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153089" tIns="76544" rIns="153089" bIns="76544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300" b="1" dirty="0" smtClean="0">
                <a:solidFill>
                  <a:schemeClr val="accent5">
                    <a:lumMod val="25000"/>
                  </a:schemeClr>
                </a:solidFill>
                <a:latin typeface="Calibri" pitchFamily="34" charset="0"/>
                <a:ea typeface="ヒラギノ角ゴ ProN W3" pitchFamily="-110" charset="-128"/>
                <a:cs typeface="ヒラギノ角ゴ ProN W3" pitchFamily="-110" charset="-128"/>
              </a:rPr>
              <a:t>Taxa de crescimento da produção 2018/2017</a:t>
            </a:r>
            <a:endParaRPr lang="pt-BR" sz="3300" b="1" dirty="0">
              <a:solidFill>
                <a:schemeClr val="accent5">
                  <a:lumMod val="25000"/>
                </a:schemeClr>
              </a:solidFill>
              <a:latin typeface="Calibri" pitchFamily="34" charset="0"/>
              <a:ea typeface="ヒラギノ角ゴ ProN W3" pitchFamily="-110" charset="-128"/>
              <a:cs typeface="ヒラギノ角ゴ ProN W3" pitchFamily="-110" charset="-128"/>
            </a:endParaRPr>
          </a:p>
        </p:txBody>
      </p:sp>
      <p:graphicFrame>
        <p:nvGraphicFramePr>
          <p:cNvPr id="17" name="Gráfico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0162451"/>
              </p:ext>
            </p:extLst>
          </p:nvPr>
        </p:nvGraphicFramePr>
        <p:xfrm>
          <a:off x="14233585" y="4234967"/>
          <a:ext cx="8988724" cy="6794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Gráfico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980217"/>
              </p:ext>
            </p:extLst>
          </p:nvPr>
        </p:nvGraphicFramePr>
        <p:xfrm>
          <a:off x="2792412" y="4054736"/>
          <a:ext cx="8352916" cy="7208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Siamf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6154" y="239847"/>
            <a:ext cx="3441276" cy="1433678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CaixaDeTexto 6"/>
          <p:cNvSpPr txBox="1"/>
          <p:nvPr/>
        </p:nvSpPr>
        <p:spPr>
          <a:xfrm>
            <a:off x="1661047" y="13326471"/>
            <a:ext cx="2189106" cy="462360"/>
          </a:xfrm>
          <a:prstGeom prst="rect">
            <a:avLst/>
          </a:prstGeom>
          <a:noFill/>
        </p:spPr>
        <p:txBody>
          <a:bodyPr wrap="none" lIns="153089" tIns="76544" rIns="153089" bIns="76544" rtlCol="0">
            <a:spAutoFit/>
          </a:bodyPr>
          <a:lstStyle/>
          <a:p>
            <a:r>
              <a:rPr lang="pt-BR" sz="200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Fonte : Alice Web </a:t>
            </a:r>
          </a:p>
        </p:txBody>
      </p:sp>
      <p:sp>
        <p:nvSpPr>
          <p:cNvPr id="9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632507" y="431295"/>
            <a:ext cx="13949011" cy="14176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3089" tIns="76544" rIns="153089" bIns="76544" numCol="1" anchor="t" anchorCtr="0" compatLnSpc="1">
            <a:prstTxWarp prst="textNoShape">
              <a:avLst/>
            </a:prstTxWarp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Comércio exterior (milhões US$)</a:t>
            </a:r>
            <a:endParaRPr lang="pt-BR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071096"/>
              </p:ext>
            </p:extLst>
          </p:nvPr>
        </p:nvGraphicFramePr>
        <p:xfrm>
          <a:off x="1632508" y="2496447"/>
          <a:ext cx="21158484" cy="88041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975102"/>
                <a:gridCol w="2189371"/>
                <a:gridCol w="2189371"/>
                <a:gridCol w="2181204"/>
                <a:gridCol w="1927955"/>
                <a:gridCol w="1927955"/>
                <a:gridCol w="1927955"/>
                <a:gridCol w="1927955"/>
                <a:gridCol w="1911616"/>
              </a:tblGrid>
              <a:tr h="15643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Categoria</a:t>
                      </a:r>
                      <a:endParaRPr lang="pt-BR" sz="24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Importações US$</a:t>
                      </a:r>
                      <a:endParaRPr lang="pt-BR" sz="24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200094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</a:rPr>
                        <a:t>2013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</a:rPr>
                        <a:t>2014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</a:rPr>
                        <a:t>2015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</a:rPr>
                        <a:t>2016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2017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2018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jan</a:t>
                      </a:r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mar 18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jan</a:t>
                      </a:r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mar 19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</a:tr>
              <a:tr h="836759"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Total Siamfesp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    679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    658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    501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446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405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484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126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108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27617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Artefatos de Metais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135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128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 85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44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54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55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13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12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27617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Cadeados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    6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    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    6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27617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Esquadrias de Aluminio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    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    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    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 dirty="0">
                          <a:effectLst/>
                        </a:rPr>
                        <a:t>                    0 </a:t>
                      </a:r>
                      <a:endParaRPr lang="pt-BR" sz="2400" b="1" i="1" u="none" strike="noStrike" dirty="0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27617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Fechaduras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183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170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137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109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118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138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38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29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27617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Metais Sanitários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321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309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238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264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198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246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58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55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763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Utilidades Domésticas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 29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 39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  30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21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26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34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15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 dirty="0">
                          <a:effectLst/>
                        </a:rPr>
                        <a:t>                  10 </a:t>
                      </a:r>
                      <a:endParaRPr lang="pt-BR" sz="2400" b="1" i="1" u="none" strike="noStrike" dirty="0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Siamf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6890" y="190853"/>
            <a:ext cx="3563009" cy="1484394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CaixaDeTexto 6"/>
          <p:cNvSpPr txBox="1"/>
          <p:nvPr/>
        </p:nvSpPr>
        <p:spPr>
          <a:xfrm>
            <a:off x="1526015" y="13334254"/>
            <a:ext cx="2189106" cy="462360"/>
          </a:xfrm>
          <a:prstGeom prst="rect">
            <a:avLst/>
          </a:prstGeom>
          <a:noFill/>
        </p:spPr>
        <p:txBody>
          <a:bodyPr wrap="none" lIns="153089" tIns="76544" rIns="153089" bIns="76544" rtlCol="0">
            <a:spAutoFit/>
          </a:bodyPr>
          <a:lstStyle/>
          <a:p>
            <a:r>
              <a:rPr lang="pt-BR" sz="200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Fonte : Alice Web </a:t>
            </a:r>
          </a:p>
        </p:txBody>
      </p:sp>
      <p:sp>
        <p:nvSpPr>
          <p:cNvPr id="9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526015" y="579802"/>
            <a:ext cx="13949011" cy="14176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3089" tIns="76544" rIns="153089" bIns="76544" numCol="1" anchor="t" anchorCtr="0" compatLnSpc="1">
            <a:prstTxWarp prst="textNoShape">
              <a:avLst/>
            </a:prstTxWarp>
          </a:bodyPr>
          <a:lstStyle/>
          <a:p>
            <a:r>
              <a:rPr lang="pt-BR" sz="3600" b="1" dirty="0" smtClean="0">
                <a:solidFill>
                  <a:schemeClr val="bg1"/>
                </a:solidFill>
              </a:rPr>
              <a:t>Comércio exterior (milhões US$)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931111" y="11921062"/>
            <a:ext cx="20129722" cy="570081"/>
          </a:xfrm>
          <a:prstGeom prst="rect">
            <a:avLst/>
          </a:prstGeom>
        </p:spPr>
        <p:txBody>
          <a:bodyPr wrap="square" lIns="153089" tIns="76544" rIns="153089" bIns="76544">
            <a:spAutoFit/>
          </a:bodyPr>
          <a:lstStyle/>
          <a:p>
            <a:pPr algn="l"/>
            <a:r>
              <a:rPr lang="pt-BR" sz="2700" dirty="0"/>
              <a:t> (Excluídas </a:t>
            </a:r>
            <a:r>
              <a:rPr lang="pt-BR" sz="2700" dirty="0" smtClean="0"/>
              <a:t>exportações </a:t>
            </a:r>
            <a:r>
              <a:rPr lang="pt-BR" sz="2700" dirty="0"/>
              <a:t>com preço médio maior </a:t>
            </a:r>
            <a:r>
              <a:rPr lang="pt-BR" sz="2700" dirty="0" smtClean="0"/>
              <a:t>que </a:t>
            </a:r>
            <a:r>
              <a:rPr lang="pt-BR" sz="2700" dirty="0"/>
              <a:t>US$500 por unidade das </a:t>
            </a:r>
            <a:r>
              <a:rPr lang="pt-BR" sz="2700" dirty="0" err="1"/>
              <a:t>NCMs</a:t>
            </a:r>
            <a:r>
              <a:rPr lang="pt-BR" sz="2700" dirty="0"/>
              <a:t> 84818093 e 84818099)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695851"/>
              </p:ext>
            </p:extLst>
          </p:nvPr>
        </p:nvGraphicFramePr>
        <p:xfrm>
          <a:off x="1632508" y="2496446"/>
          <a:ext cx="21141227" cy="858150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971045"/>
                <a:gridCol w="2187586"/>
                <a:gridCol w="2187586"/>
                <a:gridCol w="2179425"/>
                <a:gridCol w="1926382"/>
                <a:gridCol w="1926382"/>
                <a:gridCol w="1926382"/>
                <a:gridCol w="1926382"/>
                <a:gridCol w="1910057"/>
              </a:tblGrid>
              <a:tr h="152481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Categoria</a:t>
                      </a:r>
                      <a:endParaRPr lang="pt-BR" sz="24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Exportações </a:t>
                      </a:r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US$</a:t>
                      </a:r>
                      <a:endParaRPr lang="pt-BR" sz="2400" b="1" i="1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95034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2013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2014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2015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2016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2017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2018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jan</a:t>
                      </a:r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a mar 18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jan</a:t>
                      </a:r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a mar 19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</a:tr>
              <a:tr h="815597"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  <a:latin typeface="+mn-lt"/>
                        </a:rPr>
                        <a:t>Total Siamfesp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266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237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270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314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231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284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72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56 </a:t>
                      </a:r>
                    </a:p>
                  </a:txBody>
                  <a:tcPr marL="0" marR="0" marT="0" marB="0" anchor="ctr"/>
                </a:tc>
              </a:tr>
              <a:tr h="709215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  <a:latin typeface="+mn-lt"/>
                        </a:rPr>
                        <a:t>Artefatos de Metais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86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61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106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154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113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139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39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23 </a:t>
                      </a:r>
                    </a:p>
                  </a:txBody>
                  <a:tcPr marL="0" marR="0" marT="0" marB="0" anchor="ctr"/>
                </a:tc>
              </a:tr>
              <a:tr h="709215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  <a:latin typeface="+mn-lt"/>
                        </a:rPr>
                        <a:t>Cadeados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3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3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1 </a:t>
                      </a:r>
                    </a:p>
                  </a:txBody>
                  <a:tcPr marL="0" marR="0" marT="0" marB="0" anchor="ctr"/>
                </a:tc>
              </a:tr>
              <a:tr h="709215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  <a:latin typeface="+mn-lt"/>
                        </a:rPr>
                        <a:t>Esquadrias de Aluminio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   1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1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0 </a:t>
                      </a:r>
                    </a:p>
                  </a:txBody>
                  <a:tcPr marL="0" marR="0" marT="0" marB="0" anchor="ctr"/>
                </a:tc>
              </a:tr>
              <a:tr h="709215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  <a:latin typeface="+mn-lt"/>
                        </a:rPr>
                        <a:t>Fechaduras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58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49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40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29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28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27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7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6 </a:t>
                      </a:r>
                    </a:p>
                  </a:txBody>
                  <a:tcPr marL="0" marR="0" marT="0" marB="0" anchor="ctr"/>
                </a:tc>
              </a:tr>
              <a:tr h="709215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  <a:latin typeface="+mn-lt"/>
                        </a:rPr>
                        <a:t>Metais Sanitários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63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84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74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81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40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58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15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15 </a:t>
                      </a:r>
                    </a:p>
                  </a:txBody>
                  <a:tcPr marL="0" marR="0" marT="0" marB="0" anchor="ctr"/>
                </a:tc>
              </a:tr>
              <a:tr h="744676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  <a:latin typeface="+mn-lt"/>
                        </a:rPr>
                        <a:t>Utilidades Domésticas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51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38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   45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46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46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56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11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      12 </a:t>
                      </a: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93928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501591" y="267989"/>
            <a:ext cx="14624174" cy="12473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3089" tIns="76544" rIns="153089" bIns="76544" numCol="1" anchor="t" anchorCtr="0" compatLnSpc="1">
            <a:prstTxWarp prst="textNoShape">
              <a:avLst/>
            </a:prstTxWarp>
          </a:bodyPr>
          <a:lstStyle/>
          <a:p>
            <a:r>
              <a:rPr lang="pt-BR" sz="3600" b="1" dirty="0" smtClean="0">
                <a:solidFill>
                  <a:schemeClr val="bg1"/>
                </a:solidFill>
              </a:rPr>
              <a:t>Estimativa do consumo aparente 2010 a 2018</a:t>
            </a:r>
          </a:p>
          <a:p>
            <a:r>
              <a:rPr lang="pt-BR" sz="3600" b="1" dirty="0" smtClean="0">
                <a:solidFill>
                  <a:schemeClr val="bg1"/>
                </a:solidFill>
              </a:rPr>
              <a:t>(milhões US$)</a:t>
            </a:r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Siamf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4204" y="227999"/>
            <a:ext cx="4079382" cy="1274641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CaixaDeTexto 8"/>
          <p:cNvSpPr txBox="1"/>
          <p:nvPr/>
        </p:nvSpPr>
        <p:spPr>
          <a:xfrm>
            <a:off x="1255949" y="13293394"/>
            <a:ext cx="3023565" cy="462360"/>
          </a:xfrm>
          <a:prstGeom prst="rect">
            <a:avLst/>
          </a:prstGeom>
          <a:noFill/>
        </p:spPr>
        <p:txBody>
          <a:bodyPr wrap="none" lIns="153089" tIns="76544" rIns="153089" bIns="76544" rtlCol="0">
            <a:spAutoFit/>
          </a:bodyPr>
          <a:lstStyle/>
          <a:p>
            <a:r>
              <a:rPr lang="pt-BR" sz="2000" dirty="0" smtClean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Fonte : Alice Web – </a:t>
            </a:r>
            <a:r>
              <a:rPr lang="pt-BR" sz="2000" dirty="0" err="1" smtClean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Secex</a:t>
            </a:r>
            <a:r>
              <a:rPr lang="pt-BR" sz="2000" dirty="0" smtClean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2000" dirty="0">
              <a:solidFill>
                <a:schemeClr val="accent5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098970"/>
              </p:ext>
            </p:extLst>
          </p:nvPr>
        </p:nvGraphicFramePr>
        <p:xfrm>
          <a:off x="1501592" y="3001992"/>
          <a:ext cx="20840823" cy="771201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900410"/>
                <a:gridCol w="2156502"/>
                <a:gridCol w="2156502"/>
                <a:gridCol w="2148456"/>
                <a:gridCol w="1899009"/>
                <a:gridCol w="1899009"/>
                <a:gridCol w="1899009"/>
                <a:gridCol w="1899009"/>
                <a:gridCol w="1882917"/>
              </a:tblGrid>
              <a:tr h="180794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Categoria</a:t>
                      </a:r>
                      <a:endParaRPr lang="pt-BR" sz="24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37299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Consumo Aparente </a:t>
                      </a:r>
                      <a:endParaRPr lang="pt-BR" sz="24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372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203393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2013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</a:rPr>
                        <a:t>2014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>
                          <a:solidFill>
                            <a:schemeClr val="bg1"/>
                          </a:solidFill>
                          <a:effectLst/>
                        </a:rPr>
                        <a:t>2015</a:t>
                      </a:r>
                      <a:endParaRPr lang="pt-BR" sz="2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2016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2017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2018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jan</a:t>
                      </a:r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mar 18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jan</a:t>
                      </a:r>
                      <a:r>
                        <a:rPr lang="pt-BR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mar 19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37299"/>
                    </a:solidFill>
                  </a:tcPr>
                </a:tc>
              </a:tr>
              <a:tr h="564983"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Total Siamfesp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11.363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 9.624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    7.643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6.504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6.447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6.562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1.615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2400" b="1" u="none" strike="noStrike">
                          <a:effectLst/>
                        </a:rPr>
                        <a:t>            1.571 </a:t>
                      </a:r>
                      <a:endParaRPr lang="pt-BR" sz="2400" b="1" i="1" u="none" strike="noStrike">
                        <a:solidFill>
                          <a:srgbClr val="2D44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564983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Artefatos de Metais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7.104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5.580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4.078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3.670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3.753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3.865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922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921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564983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Cadeados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112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127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107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103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101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104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26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25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564983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Esquadrias de Aluminio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1.040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1.055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871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683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624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597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155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159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564983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Fechaduras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1.007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1.044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999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797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779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804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202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189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564983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Metais Sanitários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1.531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1.330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1.134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966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905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918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230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 dirty="0">
                          <a:effectLst/>
                        </a:rPr>
                        <a:t>               208 </a:t>
                      </a:r>
                      <a:endParaRPr lang="pt-BR" sz="2400" b="1" i="1" u="none" strike="noStrike" dirty="0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480235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Utilidades Domésticas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569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489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 455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285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285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274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>
                          <a:effectLst/>
                        </a:rPr>
                        <a:t>                  80 </a:t>
                      </a:r>
                      <a:endParaRPr lang="pt-BR" sz="2400" b="1" i="1" u="none" strike="noStrike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u="none" strike="noStrike" dirty="0">
                          <a:effectLst/>
                        </a:rPr>
                        <a:t>                  69 </a:t>
                      </a:r>
                      <a:endParaRPr lang="pt-BR" sz="2400" b="1" i="1" u="none" strike="noStrike" dirty="0">
                        <a:solidFill>
                          <a:srgbClr val="33996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Siamf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6822" y="148390"/>
            <a:ext cx="3726404" cy="1552466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CaixaDeTexto 6"/>
          <p:cNvSpPr txBox="1"/>
          <p:nvPr/>
        </p:nvSpPr>
        <p:spPr>
          <a:xfrm>
            <a:off x="1255948" y="13322892"/>
            <a:ext cx="4596432" cy="462360"/>
          </a:xfrm>
          <a:prstGeom prst="rect">
            <a:avLst/>
          </a:prstGeom>
          <a:noFill/>
        </p:spPr>
        <p:txBody>
          <a:bodyPr wrap="none" lIns="153089" tIns="76544" rIns="153089" bIns="76544" rtlCol="0">
            <a:spAutoFit/>
          </a:bodyPr>
          <a:lstStyle/>
          <a:p>
            <a:r>
              <a:rPr lang="pt-BR" sz="2000" dirty="0" smtClean="0">
                <a:solidFill>
                  <a:srgbClr val="4BACC6">
                    <a:lumMod val="25000"/>
                  </a:srgbClr>
                </a:solidFill>
                <a:cs typeface="Calibri" panose="020F0502020204030204" pitchFamily="34" charset="0"/>
              </a:rPr>
              <a:t>Fonte :Pia Produto - PIM-PF/ IBGE -SECEX</a:t>
            </a:r>
            <a:endParaRPr lang="pt-BR" sz="2000" dirty="0">
              <a:solidFill>
                <a:srgbClr val="4BACC6">
                  <a:lumMod val="25000"/>
                </a:srgbClr>
              </a:solidFill>
              <a:cs typeface="Calibri" panose="020F0502020204030204" pitchFamily="34" charset="0"/>
            </a:endParaRPr>
          </a:p>
        </p:txBody>
      </p:sp>
      <p:sp>
        <p:nvSpPr>
          <p:cNvPr id="9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526014" y="478541"/>
            <a:ext cx="12963128" cy="14176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3089" tIns="76544" rIns="153089" bIns="76544" numCol="1" anchor="t" anchorCtr="0" compatLnSpc="1">
            <a:prstTxWarp prst="textNoShape">
              <a:avLst/>
            </a:prstTxWarp>
          </a:bodyPr>
          <a:lstStyle/>
          <a:p>
            <a:r>
              <a:rPr lang="pt-BR" sz="3600" b="1" dirty="0" smtClean="0">
                <a:solidFill>
                  <a:schemeClr val="bg1"/>
                </a:solidFill>
              </a:rPr>
              <a:t>Participação das importações no consumo aparente (%)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14489142" y="2249004"/>
            <a:ext cx="7788166" cy="1216412"/>
          </a:xfrm>
          <a:prstGeom prst="rect">
            <a:avLst/>
          </a:prstGeom>
          <a:noFill/>
        </p:spPr>
        <p:txBody>
          <a:bodyPr wrap="square" lIns="153089" tIns="76544" rIns="153089" bIns="76544" rtlCol="0">
            <a:spAutoFit/>
          </a:bodyPr>
          <a:lstStyle/>
          <a:p>
            <a:pPr algn="ctr"/>
            <a:r>
              <a:rPr lang="pt-BR" sz="2300" b="1" dirty="0" smtClean="0">
                <a:solidFill>
                  <a:srgbClr val="4BACC6">
                    <a:lumMod val="25000"/>
                  </a:srgbClr>
                </a:solidFill>
              </a:rPr>
              <a:t>Participação das importações no consumo aparente no primeiro trimestre de 2019</a:t>
            </a:r>
          </a:p>
          <a:p>
            <a:pPr algn="ctr"/>
            <a:endParaRPr lang="pt-BR" sz="2300" b="1" dirty="0">
              <a:solidFill>
                <a:srgbClr val="4BACC6">
                  <a:lumMod val="25000"/>
                </a:srgbClr>
              </a:solidFill>
            </a:endParaRPr>
          </a:p>
        </p:txBody>
      </p:sp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1202830"/>
              </p:ext>
            </p:extLst>
          </p:nvPr>
        </p:nvGraphicFramePr>
        <p:xfrm>
          <a:off x="14656821" y="3973721"/>
          <a:ext cx="8720764" cy="5498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46916"/>
              </p:ext>
            </p:extLst>
          </p:nvPr>
        </p:nvGraphicFramePr>
        <p:xfrm>
          <a:off x="492092" y="2876010"/>
          <a:ext cx="12689070" cy="6975354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206099"/>
                <a:gridCol w="1310871"/>
                <a:gridCol w="1310871"/>
                <a:gridCol w="1310871"/>
                <a:gridCol w="1310871"/>
                <a:gridCol w="1310871"/>
                <a:gridCol w="1310871"/>
                <a:gridCol w="1310871"/>
                <a:gridCol w="1306874"/>
              </a:tblGrid>
              <a:tr h="123128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Categoria</a:t>
                      </a:r>
                      <a:endParaRPr lang="pt-BR" sz="20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299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Part. % das importações no </a:t>
                      </a:r>
                      <a:r>
                        <a:rPr lang="pt-B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consumo </a:t>
                      </a:r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aparente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2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574901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2013</a:t>
                      </a:r>
                      <a:endParaRPr lang="pt-BR" sz="2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2014</a:t>
                      </a:r>
                      <a:endParaRPr lang="pt-BR" sz="2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2015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2016</a:t>
                      </a:r>
                      <a:endParaRPr lang="pt-BR" sz="2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2017</a:t>
                      </a:r>
                      <a:endParaRPr lang="pt-BR" sz="2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2018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jan</a:t>
                      </a:r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mar 18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jan</a:t>
                      </a:r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mar 19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299"/>
                    </a:solidFill>
                  </a:tcPr>
                </a:tc>
              </a:tr>
              <a:tr h="6585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2000" b="1" u="none" strike="noStrike" dirty="0">
                          <a:effectLst/>
                        </a:rPr>
                        <a:t>Total </a:t>
                      </a:r>
                      <a:r>
                        <a:rPr lang="pt-BR" sz="2000" b="1" u="none" strike="noStrike" dirty="0" err="1">
                          <a:effectLst/>
                        </a:rPr>
                        <a:t>Siamfesp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6,0%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6,8%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6,6%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6,9%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6,3%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7,4%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7,8%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6,9%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>
                      <a:noFill/>
                    </a:lnT>
                  </a:tcPr>
                </a:tc>
              </a:tr>
              <a:tr h="572691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Artefatos de Metais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1,9%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1,2%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572691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Cadeados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5,6%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5,3%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5,5%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4,7%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6,6%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8,5%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9,4%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9,1%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609905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Esquadrias de Aluminio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0,4%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572691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Fechaduras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18,1%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16,3%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13,7%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13,7%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15,1%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17,1%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18,6%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15,4%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572691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Metais Sanitários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21,0%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23,2%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21,0%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27,3%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21,9%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26,8%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25,4%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26,2%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609905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Utilidades Domésticas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5,1%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8,0%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6,5%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7,3%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9,2%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12,3%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18,2%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13,7%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39784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Siamf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9142" y="60672"/>
            <a:ext cx="3746914" cy="1561011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CaixaDeTexto 6"/>
          <p:cNvSpPr txBox="1"/>
          <p:nvPr/>
        </p:nvSpPr>
        <p:spPr>
          <a:xfrm>
            <a:off x="1255948" y="13322892"/>
            <a:ext cx="4596432" cy="462360"/>
          </a:xfrm>
          <a:prstGeom prst="rect">
            <a:avLst/>
          </a:prstGeom>
          <a:noFill/>
        </p:spPr>
        <p:txBody>
          <a:bodyPr wrap="none" lIns="153089" tIns="76544" rIns="153089" bIns="76544" rtlCol="0">
            <a:spAutoFit/>
          </a:bodyPr>
          <a:lstStyle/>
          <a:p>
            <a:r>
              <a:rPr lang="pt-BR" sz="2000" dirty="0" smtClean="0">
                <a:solidFill>
                  <a:srgbClr val="4BACC6">
                    <a:lumMod val="25000"/>
                  </a:srgbClr>
                </a:solidFill>
                <a:cs typeface="Calibri" panose="020F0502020204030204" pitchFamily="34" charset="0"/>
              </a:rPr>
              <a:t>Fonte :Pia Produto - PIM-PF/ IBGE -SECEX</a:t>
            </a:r>
            <a:endParaRPr lang="pt-BR" sz="2000" dirty="0">
              <a:solidFill>
                <a:srgbClr val="4BACC6">
                  <a:lumMod val="25000"/>
                </a:srgbClr>
              </a:solidFill>
              <a:cs typeface="Calibri" panose="020F0502020204030204" pitchFamily="34" charset="0"/>
            </a:endParaRPr>
          </a:p>
        </p:txBody>
      </p:sp>
      <p:sp>
        <p:nvSpPr>
          <p:cNvPr id="9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526014" y="478541"/>
            <a:ext cx="12963128" cy="14176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3089" tIns="76544" rIns="153089" bIns="76544" numCol="1" anchor="t" anchorCtr="0" compatLnSpc="1">
            <a:prstTxWarp prst="textNoShape">
              <a:avLst/>
            </a:prstTxWarp>
          </a:bodyPr>
          <a:lstStyle/>
          <a:p>
            <a:r>
              <a:rPr lang="pt-BR" sz="3200" b="1" dirty="0" smtClean="0">
                <a:solidFill>
                  <a:schemeClr val="bg1"/>
                </a:solidFill>
              </a:rPr>
              <a:t>Participação das exportações no valor da produção (%)</a:t>
            </a:r>
          </a:p>
          <a:p>
            <a:endParaRPr lang="pt-BR" sz="3200" b="1" dirty="0">
              <a:solidFill>
                <a:schemeClr val="bg1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15834863" y="2623208"/>
            <a:ext cx="7788166" cy="1924298"/>
          </a:xfrm>
          <a:prstGeom prst="rect">
            <a:avLst/>
          </a:prstGeom>
          <a:noFill/>
        </p:spPr>
        <p:txBody>
          <a:bodyPr wrap="square" lIns="153089" tIns="76544" rIns="153089" bIns="76544" rtlCol="0">
            <a:spAutoFit/>
          </a:bodyPr>
          <a:lstStyle/>
          <a:p>
            <a:pPr algn="ctr"/>
            <a:r>
              <a:rPr lang="pt-BR" sz="2300" b="1" dirty="0" smtClean="0">
                <a:solidFill>
                  <a:srgbClr val="4BACC6">
                    <a:lumMod val="25000"/>
                  </a:srgbClr>
                </a:solidFill>
              </a:rPr>
              <a:t>Participação das exportações no valor da produção </a:t>
            </a:r>
            <a:r>
              <a:rPr lang="pt-BR" sz="2300" b="1" dirty="0">
                <a:solidFill>
                  <a:srgbClr val="4BACC6">
                    <a:lumMod val="25000"/>
                  </a:srgbClr>
                </a:solidFill>
              </a:rPr>
              <a:t>no primeiro trimestre de 2019</a:t>
            </a:r>
          </a:p>
          <a:p>
            <a:pPr algn="ctr"/>
            <a:endParaRPr lang="pt-BR" sz="2300" b="1" dirty="0">
              <a:solidFill>
                <a:srgbClr val="4BACC6">
                  <a:lumMod val="25000"/>
                </a:srgbClr>
              </a:solidFill>
            </a:endParaRPr>
          </a:p>
          <a:p>
            <a:pPr algn="ctr"/>
            <a:endParaRPr lang="pt-BR" sz="2300" b="1" dirty="0">
              <a:solidFill>
                <a:srgbClr val="4BACC6">
                  <a:lumMod val="25000"/>
                </a:srgbClr>
              </a:solidFill>
            </a:endParaRPr>
          </a:p>
          <a:p>
            <a:pPr algn="ctr"/>
            <a:endParaRPr lang="pt-BR" sz="2300" b="1" dirty="0">
              <a:solidFill>
                <a:srgbClr val="4BACC6">
                  <a:lumMod val="25000"/>
                </a:srgbClr>
              </a:solidFill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047675"/>
              </p:ext>
            </p:extLst>
          </p:nvPr>
        </p:nvGraphicFramePr>
        <p:xfrm>
          <a:off x="1022449" y="3088256"/>
          <a:ext cx="12710803" cy="70450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16424"/>
                <a:gridCol w="1383148"/>
                <a:gridCol w="1383148"/>
                <a:gridCol w="1383148"/>
                <a:gridCol w="1374818"/>
                <a:gridCol w="1383148"/>
                <a:gridCol w="1374818"/>
                <a:gridCol w="1337322"/>
                <a:gridCol w="1274829"/>
              </a:tblGrid>
              <a:tr h="12138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Categoria</a:t>
                      </a:r>
                      <a:endParaRPr lang="pt-BR" sz="20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Part. % das exportações na produção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58138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2013</a:t>
                      </a:r>
                      <a:endParaRPr lang="pt-BR" sz="2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2014</a:t>
                      </a:r>
                      <a:endParaRPr lang="pt-BR" sz="2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2015</a:t>
                      </a:r>
                      <a:endParaRPr lang="pt-BR" sz="2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2016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2017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2017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jan</a:t>
                      </a:r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mar 18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jan</a:t>
                      </a:r>
                      <a:r>
                        <a:rPr lang="pt-B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mar 19</a:t>
                      </a:r>
                      <a:endParaRPr lang="pt-B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DBAAF"/>
                    </a:solidFill>
                  </a:tcPr>
                </a:tc>
              </a:tr>
              <a:tr h="661308">
                <a:tc>
                  <a:txBody>
                    <a:bodyPr/>
                    <a:lstStyle/>
                    <a:p>
                      <a:pPr algn="l" fontAlgn="ctr"/>
                      <a:r>
                        <a:rPr lang="pt-BR" sz="2000" b="1" u="none" strike="noStrike" dirty="0">
                          <a:effectLst/>
                        </a:rPr>
                        <a:t>Total </a:t>
                      </a:r>
                      <a:r>
                        <a:rPr lang="pt-BR" sz="2000" b="1" u="none" strike="noStrike" dirty="0" err="1">
                          <a:effectLst/>
                        </a:rPr>
                        <a:t>Siamfesp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2,6%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3,6%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4,9%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3,7%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4,5%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4,6%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3,7%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5750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Artefatos de Metais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1,2%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2,6%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4,1%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3,0%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3,5%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4,1%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5750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Cadeados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1,8%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2,2%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2,5%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1,9%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1,8%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2,3%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5750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Esquadrias de Aluminio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0,2%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0,2%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0,2%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0,3%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0,3%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5750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Fechaduras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6,6%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5,3%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4,5%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4,1%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4,1%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4,0%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3,9%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3,3%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5750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Metais Sanitários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4,9%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7,6%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7,7%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10,4%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5,4%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8,0%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7,9%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8,7%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603802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1" u="none" strike="noStrike">
                          <a:effectLst/>
                        </a:rPr>
                        <a:t>Utilidades Domésticas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8,6%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7,9%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9,6%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14,9%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15,1%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>
                          <a:effectLst/>
                        </a:rPr>
                        <a:t>18,8%</a:t>
                      </a:r>
                      <a:endParaRPr lang="pt-BR" sz="2000" b="1" i="1" u="none" strike="noStrike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13,9%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effectLst/>
                        </a:rPr>
                        <a:t>16,6%</a:t>
                      </a:r>
                      <a:endParaRPr lang="pt-BR" sz="2000" b="1" i="1" u="none" strike="noStrike" dirty="0">
                        <a:solidFill>
                          <a:srgbClr val="9CB5B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12" name="Gráfico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7483577"/>
              </p:ext>
            </p:extLst>
          </p:nvPr>
        </p:nvGraphicFramePr>
        <p:xfrm>
          <a:off x="14699412" y="4105814"/>
          <a:ext cx="9187432" cy="5780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5599430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>
          <a:xfrm>
            <a:off x="0" y="507887"/>
            <a:ext cx="18861956" cy="642938"/>
          </a:xfrm>
        </p:spPr>
        <p:txBody>
          <a:bodyPr/>
          <a:lstStyle/>
          <a:p>
            <a:r>
              <a:rPr lang="pt-BR" sz="3200" b="1" dirty="0" smtClean="0">
                <a:solidFill>
                  <a:schemeClr val="bg1"/>
                </a:solidFill>
              </a:rPr>
              <a:t>Resumo</a:t>
            </a:r>
            <a:r>
              <a:rPr lang="pt-BR" sz="3200" dirty="0" smtClean="0"/>
              <a:t> </a:t>
            </a:r>
            <a:endParaRPr lang="pt-BR" sz="3200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000595"/>
              </p:ext>
            </p:extLst>
          </p:nvPr>
        </p:nvGraphicFramePr>
        <p:xfrm>
          <a:off x="3105777" y="232197"/>
          <a:ext cx="19805982" cy="13134720"/>
        </p:xfrm>
        <a:graphic>
          <a:graphicData uri="http://schemas.openxmlformats.org/drawingml/2006/table">
            <a:tbl>
              <a:tblPr/>
              <a:tblGrid>
                <a:gridCol w="2544665"/>
                <a:gridCol w="2617370"/>
                <a:gridCol w="2544665"/>
                <a:gridCol w="1478330"/>
                <a:gridCol w="2059965"/>
                <a:gridCol w="1435920"/>
                <a:gridCol w="1793383"/>
                <a:gridCol w="1163276"/>
                <a:gridCol w="1599506"/>
                <a:gridCol w="2568902"/>
              </a:tblGrid>
              <a:tr h="72936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Grupo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2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 dirty="0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Anos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2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 dirty="0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Produção                   </a:t>
                      </a:r>
                      <a:endParaRPr lang="pt-BR" sz="1400" b="1" i="1" u="none" strike="noStrike" dirty="0" smtClean="0">
                        <a:solidFill>
                          <a:srgbClr val="C0C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/>
                      <a:r>
                        <a:rPr lang="pt-BR" sz="1400" b="1" i="1" u="none" strike="noStrike" dirty="0" smtClean="0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r>
                        <a:rPr lang="pt-BR" sz="1400" b="1" i="1" u="none" strike="noStrike" dirty="0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(milhões US$)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2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Tx Cresc.*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2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 dirty="0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 Exportações (milhões US$)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2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Tx Cresc.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2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 Importações (milhõesUS$)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2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Tx Cresc.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2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 Consumo Aparente (milhões US$)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2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 dirty="0" err="1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  <a:r>
                        <a:rPr lang="pt-BR" sz="1400" b="1" i="1" u="none" strike="noStrike" dirty="0">
                          <a:solidFill>
                            <a:srgbClr val="C0C0C0"/>
                          </a:solidFill>
                          <a:effectLst/>
                          <a:latin typeface="Calibri" panose="020F0502020204030204" pitchFamily="34" charset="0"/>
                        </a:rPr>
                        <a:t> Crescimento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2D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1" i="1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TOTAL SIAMFESP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10.950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266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11.363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9.203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-16,0%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237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-11,0%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658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9.624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-15,3%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7.412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-19,5%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13,9%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501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-23,9%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7.643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-20,6%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6.373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-14,0%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16,6%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446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-10,9%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6.504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-14,9%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6.273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231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-26,4%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-9,1%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6.447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-0,9%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6.363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-40,0%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484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19,4%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6.562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1.560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126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1.615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 err="1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  <a:r>
                        <a:rPr lang="pt-BR" sz="1600" b="1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a mar19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1.519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-40,0%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108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-14,6%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1.571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72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37299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1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Metais Sanitários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1.273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1.531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1.105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-13,2%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84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33,6%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1.330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-13,2%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970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-12,2%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74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-11,2%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-22,9%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1.134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-14,8%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784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-19,2%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81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9,3%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10,7%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966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-14,8%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747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40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-50,2%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198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-24,9%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905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-6,4%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730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58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44,0%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246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24,4%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918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186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168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-9,5%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0,0%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-6,5%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208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-9,3%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1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Fechaduras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883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58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183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1.007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923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49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-15,4%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-7,0%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1.044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903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40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-18,2%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137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-19,4%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999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717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-20,6%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-28,0%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-20,0%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797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-20,2%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689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118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7,7%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694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0,7%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16,9%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804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171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165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-16,7%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-22,6%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-6,6%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1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Utilidades Domésticas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590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50,5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29,1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568,8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-17,3%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38,4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-23,9%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39,3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35,2%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489,1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-14,0%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470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45,2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17,7%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29,7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-24,5%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454,6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-7,1%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-33,9%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46,4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20,7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-30,3%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285,2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-37,2%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46,0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-0,8%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26,4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27,3%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285,1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-0,1%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296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55,7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21,0%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33,6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27,5%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274,1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10,5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14,5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79,7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-5,5%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11,9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12,9%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9,5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-34,5%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69,2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-13,2%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1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Esquadrias de Aluminio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1.040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5,6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5,0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1.040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1.051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1,9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-65,3%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5,4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6,6%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1.055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868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-17,5%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1,1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-41,9%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-10,5%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871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-17,4%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681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-21,5%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1,4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27,1%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-38,8%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683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-21,6%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623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-8,5%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1,5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6,1%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-22,9%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624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-8,6%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597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1,8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16,9%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-7,1%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597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155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0,4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0,4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159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0,5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14,8%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0,2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-58,6%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159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1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Artefatos de Metais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7.056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135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7.104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5.513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-21,9%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61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-29,3%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-5,1%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5.580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-21,5%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4.099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-25,7%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106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74,6%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85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-33,3%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4.078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-26,9%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3.779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-7,8%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44,7%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-48,1%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3.670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-10,0%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3.812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0,9%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113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-26,2%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22,3%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3.753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3.949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22,2%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3.865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948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922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 a mar19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932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-40,0%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-5,6%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921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-0,1%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FEE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1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Cadeados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6,3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112,5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12,1%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-17,6%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6,7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6,5%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126,5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12,5%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-15,2%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5,9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-11,9%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107,1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-15,4%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13,6%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-19,3%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102,9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1,8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-28,9%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6,7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39,2%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101,4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-1,4%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0,7%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29,8%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8,9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32,7%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103,8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 err="1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a mar18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0,4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  <a:tr h="175838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 err="1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a mar19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23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-3,5%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0,5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26,1%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-8,1%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121B12"/>
                          </a:solidFill>
                          <a:effectLst/>
                          <a:latin typeface="Calibri" panose="020F0502020204030204" pitchFamily="34" charset="0"/>
                        </a:rPr>
                        <a:t>-4,4%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C6A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0214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>
          <a:xfrm>
            <a:off x="1536576" y="750094"/>
            <a:ext cx="18861956" cy="642938"/>
          </a:xfrm>
        </p:spPr>
        <p:txBody>
          <a:bodyPr/>
          <a:lstStyle/>
          <a:p>
            <a:r>
              <a:rPr lang="pt-BR" b="1" dirty="0" smtClean="0">
                <a:solidFill>
                  <a:schemeClr val="bg1"/>
                </a:solidFill>
              </a:rPr>
              <a:t>Resumo</a:t>
            </a:r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3590744" y="2183867"/>
            <a:ext cx="16183155" cy="12473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3089" tIns="76544" rIns="153089" bIns="76544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600" b="1" dirty="0" smtClean="0">
                <a:solidFill>
                  <a:schemeClr val="accent1">
                    <a:lumMod val="25000"/>
                  </a:schemeClr>
                </a:solidFill>
                <a:latin typeface="Calibri" pitchFamily="34" charset="0"/>
                <a:cs typeface="Calibri" pitchFamily="34" charset="0"/>
              </a:rPr>
              <a:t>Estimativa do valor de mercado ou consumo aparente </a:t>
            </a:r>
          </a:p>
          <a:p>
            <a:pPr algn="ctr"/>
            <a:r>
              <a:rPr lang="pt-BR" sz="3600" b="1" dirty="0">
                <a:solidFill>
                  <a:schemeClr val="accent1">
                    <a:lumMod val="25000"/>
                  </a:schemeClr>
                </a:solidFill>
                <a:latin typeface="Calibri" pitchFamily="34" charset="0"/>
                <a:cs typeface="Calibri" pitchFamily="34" charset="0"/>
              </a:rPr>
              <a:t>n</a:t>
            </a:r>
            <a:r>
              <a:rPr lang="pt-BR" sz="3600" b="1" dirty="0" smtClean="0">
                <a:solidFill>
                  <a:schemeClr val="accent1">
                    <a:lumMod val="25000"/>
                  </a:schemeClr>
                </a:solidFill>
                <a:latin typeface="Calibri" pitchFamily="34" charset="0"/>
                <a:cs typeface="Calibri" pitchFamily="34" charset="0"/>
              </a:rPr>
              <a:t>o primeiro trimestre de 2019 (milhões US$)</a:t>
            </a:r>
            <a:endParaRPr lang="pt-BR" sz="3600" b="1" dirty="0">
              <a:solidFill>
                <a:schemeClr val="accent1">
                  <a:lumMod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5200180"/>
              </p:ext>
            </p:extLst>
          </p:nvPr>
        </p:nvGraphicFramePr>
        <p:xfrm>
          <a:off x="4216400" y="4033836"/>
          <a:ext cx="14928850" cy="7453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599139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>
          <a:xfrm>
            <a:off x="1586204" y="428625"/>
            <a:ext cx="17609170" cy="642938"/>
          </a:xfrm>
        </p:spPr>
        <p:txBody>
          <a:bodyPr/>
          <a:lstStyle/>
          <a:p>
            <a:r>
              <a:rPr lang="pt-BR" sz="4400" dirty="0" smtClean="0">
                <a:solidFill>
                  <a:schemeClr val="bg1"/>
                </a:solidFill>
              </a:rPr>
              <a:t>Taxa de câmbio </a:t>
            </a:r>
            <a:endParaRPr lang="pt-BR" sz="4400" dirty="0">
              <a:solidFill>
                <a:schemeClr val="bg1"/>
              </a:solidFill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772782"/>
              </p:ext>
            </p:extLst>
          </p:nvPr>
        </p:nvGraphicFramePr>
        <p:xfrm>
          <a:off x="7569321" y="4442141"/>
          <a:ext cx="8264104" cy="5978208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5118414"/>
                <a:gridCol w="3145690"/>
              </a:tblGrid>
              <a:tr h="7472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1,71</a:t>
                      </a:r>
                      <a:endParaRPr lang="pt-BR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7472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2013</a:t>
                      </a:r>
                      <a:endParaRPr lang="pt-BR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1,80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7472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2014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1,87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7472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2015</a:t>
                      </a:r>
                      <a:endParaRPr lang="pt-BR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2,05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7472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2016</a:t>
                      </a:r>
                      <a:endParaRPr lang="pt-BR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2,21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7472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2017</a:t>
                      </a:r>
                      <a:endParaRPr lang="pt-BR" sz="2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2,23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7472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2018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2,24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7472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2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2019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2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2,23</a:t>
                      </a:r>
                      <a:endParaRPr lang="pt-BR" sz="2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6321523" y="2236299"/>
            <a:ext cx="12192000" cy="141577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b="1" dirty="0"/>
              <a:t>Taxa de paridade do poder de compra (PPC) - consumo das </a:t>
            </a:r>
            <a:r>
              <a:rPr lang="pt-BR" b="1" dirty="0" smtClean="0"/>
              <a:t>famílias</a:t>
            </a:r>
            <a:endParaRPr lang="pt-BR" b="1" dirty="0"/>
          </a:p>
        </p:txBody>
      </p:sp>
      <p:sp>
        <p:nvSpPr>
          <p:cNvPr id="6" name="Retângulo 5"/>
          <p:cNvSpPr/>
          <p:nvPr/>
        </p:nvSpPr>
        <p:spPr>
          <a:xfrm>
            <a:off x="256624" y="12521901"/>
            <a:ext cx="179007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 smtClean="0"/>
              <a:t>Instituto </a:t>
            </a:r>
            <a:r>
              <a:rPr lang="pt-BR" sz="2800" dirty="0"/>
              <a:t>de Pesquisa Econômica Aplicada (IPEA) - GAC12_PPCTAXAC12</a:t>
            </a:r>
          </a:p>
        </p:txBody>
      </p:sp>
    </p:spTree>
    <p:extLst>
      <p:ext uri="{BB962C8B-B14F-4D97-AF65-F5344CB8AC3E}">
        <p14:creationId xmlns:p14="http://schemas.microsoft.com/office/powerpoint/2010/main" val="1658312355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CAPA METAIS NÃO FERROSO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IOLO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ersonalizada 94">
    <a:dk1>
      <a:srgbClr val="9CB5B1"/>
    </a:dk1>
    <a:lt1>
      <a:srgbClr val="475F5B"/>
    </a:lt1>
    <a:dk2>
      <a:srgbClr val="3E7466"/>
    </a:dk2>
    <a:lt2>
      <a:srgbClr val="94C6B9"/>
    </a:lt2>
    <a:accent1>
      <a:srgbClr val="539B88"/>
    </a:accent1>
    <a:accent2>
      <a:srgbClr val="2A412A"/>
    </a:accent2>
    <a:accent3>
      <a:srgbClr val="A7C2A7"/>
    </a:accent3>
    <a:accent4>
      <a:srgbClr val="2C432C"/>
    </a:accent4>
    <a:accent5>
      <a:srgbClr val="DBE7DB"/>
    </a:accent5>
    <a:accent6>
      <a:srgbClr val="6CA06C"/>
    </a:accent6>
    <a:hlink>
      <a:srgbClr val="548254"/>
    </a:hlink>
    <a:folHlink>
      <a:srgbClr val="2A412A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Personalizada 94">
    <a:dk1>
      <a:srgbClr val="9CB5B1"/>
    </a:dk1>
    <a:lt1>
      <a:srgbClr val="475F5B"/>
    </a:lt1>
    <a:dk2>
      <a:srgbClr val="3E7466"/>
    </a:dk2>
    <a:lt2>
      <a:srgbClr val="94C6B9"/>
    </a:lt2>
    <a:accent1>
      <a:srgbClr val="539B88"/>
    </a:accent1>
    <a:accent2>
      <a:srgbClr val="2A412A"/>
    </a:accent2>
    <a:accent3>
      <a:srgbClr val="A7C2A7"/>
    </a:accent3>
    <a:accent4>
      <a:srgbClr val="2C432C"/>
    </a:accent4>
    <a:accent5>
      <a:srgbClr val="DBE7DB"/>
    </a:accent5>
    <a:accent6>
      <a:srgbClr val="6CA06C"/>
    </a:accent6>
    <a:hlink>
      <a:srgbClr val="548254"/>
    </a:hlink>
    <a:folHlink>
      <a:srgbClr val="2A412A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2144</Words>
  <Application>Microsoft Office PowerPoint</Application>
  <PresentationFormat>Personalizar</PresentationFormat>
  <Paragraphs>1082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Verdana</vt:lpstr>
      <vt:lpstr>ヒラギノ角ゴ ProN W3</vt:lpstr>
      <vt:lpstr>CAPA METAIS NÃO FERROSOS</vt:lpstr>
      <vt:lpstr>MIOLO 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LAIKA</dc:creator>
  <cp:lastModifiedBy>Patricia Marrone</cp:lastModifiedBy>
  <cp:revision>156</cp:revision>
  <dcterms:created xsi:type="dcterms:W3CDTF">2017-11-30T13:04:12Z</dcterms:created>
  <dcterms:modified xsi:type="dcterms:W3CDTF">2019-05-09T11:00:14Z</dcterms:modified>
</cp:coreProperties>
</file>